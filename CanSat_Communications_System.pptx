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696"/>
                </a:solidFill>
                <a:latin typeface="Segoe UI"/>
              </a:rPr>
              <a:t>CANSAT GROUND STATION  ·  COMMUNICATIONS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08696"/>
                </a:solidFill>
                <a:latin typeface="Segoe UI"/>
              </a:rPr>
              <a:t>01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73E8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7548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C1E"/>
                </a:solidFill>
                <a:latin typeface="Segoe UI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0241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08696"/>
                </a:solidFill>
                <a:latin typeface="Segoe UI"/>
              </a:rPr>
              <a:t>How data travels from sensor to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11365992" cy="10972"/>
          </a:xfrm>
          <a:prstGeom prst="rect">
            <a:avLst/>
          </a:prstGeom>
          <a:solidFill>
            <a:srgbClr val="E0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2148840" cy="1417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99339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CanSat
ESP32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54203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EFF"/>
                </a:solidFill>
                <a:latin typeface="Segoe UI"/>
              </a:rPr>
              <a:t>9 sensors
LoRa TX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874519"/>
            <a:ext cx="2148840" cy="14173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99339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GS
ESP32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4203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EFF"/>
                </a:solidFill>
                <a:latin typeface="Segoe UI"/>
              </a:rPr>
              <a:t>LoRa RX
USB relay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874519"/>
            <a:ext cx="2148840" cy="14173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8968" y="199339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server.py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79" y="254203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EFF"/>
                </a:solidFill>
                <a:latin typeface="Segoe UI"/>
              </a:rPr>
              <a:t>Parse · Filter
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874519"/>
            <a:ext cx="2148840" cy="14173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3567" y="199339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Dashboard
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54203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EEFF"/>
                </a:solidFill>
                <a:latin typeface="Segoe UI"/>
              </a:rPr>
              <a:t>Charts · Map
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2313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08696"/>
                </a:solidFill>
                <a:latin typeface="Segoe U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1768" y="2313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08696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2313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08696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337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08696"/>
                </a:solidFill>
                <a:latin typeface="Segoe UI"/>
              </a:rPr>
              <a:t>LoRa 923.75 MHz
SF11 · 125kHz BW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337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08696"/>
                </a:solidFill>
                <a:latin typeface="Segoe UI"/>
              </a:rPr>
              <a:t>USB Serial
115200 baud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337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08696"/>
                </a:solidFill>
                <a:latin typeface="Segoe UI"/>
              </a:rPr>
              <a:t>WebSocket
ws://localhost:8765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69080"/>
            <a:ext cx="3520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418795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3E8"/>
                </a:solidFill>
                <a:latin typeface="Segoe UI"/>
              </a:rPr>
              <a:t>CanSat Sensors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41148" cy="23774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448056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BME280 — Temp / Humidity / Altitude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472744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ADXL345 — Acceleration XYZ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4974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GPS (UART) — Lat, Lon, Satellites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5221223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PMSA003 — PM1.0 / PM2.5 / PM10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5468111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INA219 — Voltage, Current, Power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4069080"/>
            <a:ext cx="41605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87952" y="4187952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9D58"/>
                </a:solidFill>
                <a:latin typeface="Segoe UI"/>
              </a:rPr>
              <a:t>LoRa Parameters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23360" y="4069080"/>
            <a:ext cx="41148" cy="237744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87952" y="4480560"/>
            <a:ext cx="3886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Frequency  :  923.75 MHz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7952" y="4727448"/>
            <a:ext cx="3886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Spreading Factor  :  SF11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87952" y="4974336"/>
            <a:ext cx="3886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Bandwidth  :  125 kHz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87952" y="5221223"/>
            <a:ext cx="3886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TX Power  :  17 dBm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87952" y="5468111"/>
            <a:ext cx="3886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Time-on-Air  :  ~2.2 s / packet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4069080"/>
            <a:ext cx="35204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1352" y="418795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B400"/>
                </a:solidFill>
                <a:latin typeface="Segoe UI"/>
              </a:rPr>
              <a:t>Key Files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4069080"/>
            <a:ext cx="41148" cy="237744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31352" y="448056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cansat_esp32.ino  — firmware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1352" y="472744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gs_esp32.ino  — GS receiver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31352" y="49743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server.py  — backend (869 lines)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31352" y="5221223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dashboard.js  — UI (945 lines)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31352" y="5468111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dashboard.html  —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696"/>
                </a:solidFill>
                <a:latin typeface="Segoe UI"/>
              </a:rPr>
              <a:t>CANSAT GROUND STATION  ·  COMMUNICATIONS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08696"/>
                </a:solidFill>
                <a:latin typeface="Segoe UI"/>
              </a:rPr>
              <a:t>02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73E8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7548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C1E"/>
                </a:solidFill>
                <a:latin typeface="Segoe UI"/>
              </a:rPr>
              <a:t>Data Protocol — CSV Packet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0241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08696"/>
                </a:solidFill>
                <a:latin typeface="Segoe UI"/>
              </a:rPr>
              <a:t>21 fields per packet · sent every 1 second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11365992" cy="10972"/>
          </a:xfrm>
          <a:prstGeom prst="rect">
            <a:avLst/>
          </a:prstGeom>
          <a:solidFill>
            <a:srgbClr val="E0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74F"/>
                </a:solidFill>
                <a:latin typeface="Segoe UI"/>
              </a:rPr>
              <a:t>ทุก 1 วินาที CanSat จะส่ง 1 packet เป็น CSV text ผ่านทั้ง LoRa และ USB Serial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1572768" cy="122529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7510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ID &amp;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24942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team_id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542032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time (s)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834640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packet_id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02536" y="1920240"/>
            <a:ext cx="1572768" cy="1225295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3976" y="197510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GPS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224942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lat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2542032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lon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2834640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satellites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5031" y="1920240"/>
            <a:ext cx="1572768" cy="1225295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6471" y="197510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1" y="224942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temp °C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1" y="2542032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humidity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6471" y="2834640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alt_baro 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67527" y="1920240"/>
            <a:ext cx="1572768" cy="151790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58967" y="197510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IMU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8967" y="224942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acc_x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7" y="2542032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acc_y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8967" y="2834640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acc_z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7" y="3127248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heading 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50023" y="1920240"/>
            <a:ext cx="1572768" cy="1225295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41463" y="197510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Air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41463" y="224942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PM1.0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41463" y="2542032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PM2.5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1463" y="2834640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PM10  µg/m³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19" y="1920240"/>
            <a:ext cx="1572768" cy="151790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59" y="197510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Power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59" y="224942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voltage 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59" y="2542032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current 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59" y="2834640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watt 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59" y="3127248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battery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15015" y="1920240"/>
            <a:ext cx="1572768" cy="64008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06455" y="197510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06455" y="224942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EEFF"/>
                </a:solidFill>
                <a:latin typeface="Segoe UI"/>
              </a:rPr>
              <a:t>• status (bitmask)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749039"/>
            <a:ext cx="115488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3749039"/>
            <a:ext cx="41148" cy="9601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8130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B400"/>
                </a:solidFill>
                <a:latin typeface="Segoe UI"/>
              </a:rPr>
              <a:t>Status Bitmask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4114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696"/>
                </a:solidFill>
                <a:latin typeface="Segoe UI"/>
              </a:rPr>
              <a:t>Bit 0 =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315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9D58"/>
                </a:solidFill>
                <a:latin typeface="Segoe UI"/>
              </a:rPr>
              <a:t>ASCENDING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4114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696"/>
                </a:solidFill>
                <a:latin typeface="Segoe UI"/>
              </a:rPr>
              <a:t>Bit 1 =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4315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3E8"/>
                </a:solidFill>
                <a:latin typeface="Segoe UI"/>
              </a:rPr>
              <a:t>APOGEE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4114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696"/>
                </a:solidFill>
                <a:latin typeface="Segoe UI"/>
              </a:rPr>
              <a:t>Bit 2 = 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3480" y="4315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B400"/>
                </a:solidFill>
                <a:latin typeface="Segoe UI"/>
              </a:rPr>
              <a:t>DEPLOYMENT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4114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696"/>
                </a:solidFill>
                <a:latin typeface="Segoe UI"/>
              </a:rPr>
              <a:t>Bit 3 = 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4315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C27B0"/>
                </a:solidFill>
                <a:latin typeface="Segoe UI"/>
              </a:rPr>
              <a:t>DESCENDING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4040" y="4114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696"/>
                </a:solidFill>
                <a:latin typeface="Segoe UI"/>
              </a:rPr>
              <a:t>Bit 4 = 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4315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A4335"/>
                </a:solidFill>
                <a:latin typeface="Segoe UI"/>
              </a:rPr>
              <a:t>LANDED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846320"/>
            <a:ext cx="11548872" cy="804672"/>
          </a:xfrm>
          <a:prstGeom prst="rect">
            <a:avLst/>
          </a:prstGeom>
          <a:solidFill>
            <a:srgbClr val="E8F0FE"/>
          </a:solidFill>
          <a:ln w="9525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4919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3E8"/>
                </a:solidFill>
                <a:latin typeface="Segoe UI"/>
              </a:rPr>
              <a:t>ทำไมถึงใช้ CSV?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193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Lightweight ไม่มี overhead  ·  ส่งได้เร็ว  ·  Debug ง่าย (อ่านเป็น text ได้เลย)  ·  ขนาดเล็กเหมาะกับ LoRa ที่มี bandwidth จำกัด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696"/>
                </a:solidFill>
                <a:latin typeface="Segoe UI"/>
              </a:rPr>
              <a:t>CANSAT GROUND STATION  ·  COMMUNICATIONS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08696"/>
                </a:solidFill>
                <a:latin typeface="Segoe UI"/>
              </a:rPr>
              <a:t>03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73E8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7548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C1E"/>
                </a:solidFill>
                <a:latin typeface="Segoe UI"/>
              </a:rPr>
              <a:t>Backend Processing  —  server.py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0241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08696"/>
                </a:solidFill>
                <a:latin typeface="Segoe UI"/>
              </a:rPr>
              <a:t>Parse · Validate · Filter · Derive  (869 lines, async Python)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11365992" cy="10972"/>
          </a:xfrm>
          <a:prstGeom prst="rect">
            <a:avLst/>
          </a:prstGeom>
          <a:solidFill>
            <a:srgbClr val="E0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3721608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554480"/>
            <a:ext cx="3721608" cy="3840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538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① Parse &amp; 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29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Segoe U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029968"/>
            <a:ext cx="3218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อ่าน Serial port แบบ async (auto-reconnect)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140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Segoe U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414016"/>
            <a:ext cx="3218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แยก CSV → ตรวจทุก 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980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Segoe U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798064"/>
            <a:ext cx="3218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รองรับ packet ซ้อนกัน 2 ชุด/frame (SF11 ToA &gt; 2s)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821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Segoe U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182112"/>
            <a:ext cx="3218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Field เสียหาย → ทิ้ง packet ทั้งใบ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42816" y="1554480"/>
            <a:ext cx="3721608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42816" y="1554480"/>
            <a:ext cx="3721608" cy="384048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9976" y="1600200"/>
            <a:ext cx="3538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② Kalman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2029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9D58"/>
                </a:solidFill>
                <a:latin typeface="Segoe U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2029968"/>
            <a:ext cx="3218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Smooth ค่าที่กระตุกก่อนส่งไป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24140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9D58"/>
                </a:solidFill>
                <a:latin typeface="Segoe U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2414016"/>
            <a:ext cx="3218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alt_baro  Q=0.5  R=2.0  (noise ปานกลาง)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27980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9D58"/>
                </a:solidFill>
                <a:latin typeface="Segoe U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2798064"/>
            <a:ext cx="3218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temp      Q=0.02 R=0.5  (stable มาก)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31821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9D58"/>
                </a:solidFill>
                <a:latin typeface="Segoe U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3182112"/>
            <a:ext cx="3218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acc_x/y/z Q=80   R=150  (noisy มาก)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9976" y="3566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9D58"/>
                </a:solidFill>
                <a:latin typeface="Segoe U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6864" y="3566160"/>
            <a:ext cx="3218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voltage   Q=0.005 R=0.05 (stable มาก)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65592" y="1554480"/>
            <a:ext cx="3721608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65592" y="1554480"/>
            <a:ext cx="3721608" cy="384048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1600200"/>
            <a:ext cx="3538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③ Derive Values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2029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B400"/>
                </a:solidFill>
                <a:latin typeface="Segoe UI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2029968"/>
            <a:ext cx="3218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Speed — Haversine distance ÷ time (m/s)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24140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B400"/>
                </a:solidFill>
                <a:latin typeface="Segoe UI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2414016"/>
            <a:ext cx="3218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Vertical accel — จาก acc_y โดยตรง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27980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B400"/>
                </a:solidFill>
                <a:latin typeface="Segoe UI"/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2798064"/>
            <a:ext cx="3218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Pitch / Roll / Tilt — จาก accel vector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31821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B400"/>
                </a:solidFill>
                <a:latin typeface="Segoe UI"/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3182112"/>
            <a:ext cx="32186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สถิติ MAX/MIN/AVG/STDDEV แยกต่อ phase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833872"/>
            <a:ext cx="11548872" cy="658368"/>
          </a:xfrm>
          <a:prstGeom prst="rect">
            <a:avLst/>
          </a:prstGeom>
          <a:solidFill>
            <a:srgbClr val="E8F0FE"/>
          </a:solidFill>
          <a:ln w="9525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8887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9D58"/>
                </a:solidFill>
                <a:latin typeface="Segoe UI"/>
              </a:rPr>
              <a:t>Kalman Filter คืออะไร?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14476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ค่าเฉลี่ยที่ฉลาดขึ้น — ถ่วงน้ำหนักระหว่าง "ค่าที่ทำนายไว้" กับ "ค่าที่วัดจริง"  ยิ่ง R สูง = เชื่อ sensor น้อยลง  ·  ยิ่ง Q สูง = ยอมให้ค่าเปลี่ยนเร็ว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696"/>
                </a:solidFill>
                <a:latin typeface="Segoe UI"/>
              </a:rPr>
              <a:t>CANSAT GROUND STATION  ·  COMMUNICATIONS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08696"/>
                </a:solidFill>
                <a:latin typeface="Segoe UI"/>
              </a:rPr>
              <a:t>04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73E8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7548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C1E"/>
                </a:solidFill>
                <a:latin typeface="Segoe UI"/>
              </a:rPr>
              <a:t>Flight State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0241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08696"/>
                </a:solidFill>
                <a:latin typeface="Segoe UI"/>
              </a:rPr>
              <a:t>ดาวเทียมรู้ได้ยังไงว่าตัวเองอยู่ที่ไหนในภารกิจ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11365992" cy="10972"/>
          </a:xfrm>
          <a:prstGeom prst="rect">
            <a:avLst/>
          </a:prstGeom>
          <a:solidFill>
            <a:srgbClr val="E0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45920"/>
            <a:ext cx="2148840" cy="1417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C1C1E"/>
                </a:solidFill>
                <a:latin typeface="Segoe UI"/>
              </a:rPr>
              <a:t>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128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ASCENDING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5603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  <a:latin typeface="Segoe UI"/>
              </a:rPr>
              <a:t>alt &gt; 0m
กำลังขึ้น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1488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08696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645920"/>
            <a:ext cx="2148840" cy="14173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6916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C1C1E"/>
                </a:solidFill>
                <a:latin typeface="Segoe UI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2128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APOGEE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25603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  <a:latin typeface="Segoe UI"/>
              </a:rPr>
              <a:t>peak − now ≥ 3m
&amp; alt &gt; 267m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21488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08696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0056" y="1645920"/>
            <a:ext cx="2148840" cy="14173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16916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C1C1E"/>
                </a:solidFill>
                <a:latin typeface="Segoe UI"/>
              </a:rPr>
              <a:t>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22128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25603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  <a:latin typeface="Segoe UI"/>
              </a:rPr>
              <a:t>Servo กางร่ม
(PWM 45°)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21488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08696"/>
                </a:solidFill>
                <a:latin typeface="Segoe U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0064" y="1645920"/>
            <a:ext cx="2148840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47304" y="16916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C1C1E"/>
                </a:solidFill>
                <a:latin typeface="Segoe UI"/>
              </a:rPr>
              <a:t>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22128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DESCENDING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5603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  <a:latin typeface="Segoe UI"/>
              </a:rPr>
              <a:t>กำลังร่วงลง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214884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08696"/>
                </a:solidFill>
                <a:latin typeface="Segoe U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1645920"/>
            <a:ext cx="2148840" cy="14173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97312" y="16916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C1C1E"/>
                </a:solidFill>
                <a:latin typeface="Segoe UI"/>
              </a:rPr>
              <a:t>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2" y="22128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LANDED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1512" y="25603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  <a:latin typeface="Segoe UI"/>
              </a:rPr>
              <a:t>alt &lt; 50m
&amp; speed &lt; 0.15 m/s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33756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" y="3456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27B0"/>
                </a:solidFill>
                <a:latin typeface="Segoe UI"/>
              </a:rPr>
              <a:t>Apogee Detection Logic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337560"/>
            <a:ext cx="41148" cy="27432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374903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1. Altitude ต้องเกิน 267 m ก่อน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3995927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2. (peak − current) ≥ 3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" y="424281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3. Failsafe: ถ้า sensor เสีย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4489703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   → force APOGEE หลัง 10 วิ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333756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5112" y="3456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B400"/>
                </a:solidFill>
                <a:latin typeface="Segoe UI"/>
              </a:rPr>
              <a:t>Servo Deployment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3337560"/>
            <a:ext cx="41148" cy="2743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25112" y="374903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ทำงานที่ APOGEE ทันที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25112" y="3995927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หมุนไป 45° (กางร่มชูชีพ)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25112" y="424281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ค้างไว้ 3 วินาที ก่อนเปลี่ยน 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25112" y="4489703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ไม่มีไฟฟ้า = ร่มไม่กาง (safety)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1000" y="3337560"/>
            <a:ext cx="386791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65592" y="3456432"/>
            <a:ext cx="3593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4335"/>
                </a:solidFill>
                <a:latin typeface="Segoe UI"/>
              </a:rPr>
              <a:t>Landing Detection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01000" y="3337560"/>
            <a:ext cx="41148" cy="2743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5592" y="3749039"/>
            <a:ext cx="3593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alt &lt; 50 m  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5592" y="3995927"/>
            <a:ext cx="3593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แทบไม่เคลื่อนที่ (&lt; 0.15 m/s)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65592" y="4242815"/>
            <a:ext cx="3593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ทั้ง 2 เงื่อนไขต้องจริงพร้อมกัน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5592" y="4489703"/>
            <a:ext cx="3593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  → หยุดส่ง packet ประหยัดแบต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696"/>
                </a:solidFill>
                <a:latin typeface="Segoe UI"/>
              </a:rPr>
              <a:t>CANSAT GROUND STATION  ·  COMMUNICATIONS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91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08696"/>
                </a:solidFill>
                <a:latin typeface="Segoe UI"/>
              </a:rPr>
              <a:t>05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73E8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7548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C1E"/>
                </a:solidFill>
                <a:latin typeface="Segoe UI"/>
              </a:rPr>
              <a:t>Dashboard &amp; Data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0241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08696"/>
                </a:solidFill>
                <a:latin typeface="Segoe UI"/>
              </a:rPr>
              <a:t>Real-time web UI + Excel report สร้างอัตโนมัติ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11365992" cy="10972"/>
          </a:xfrm>
          <a:prstGeom prst="rect">
            <a:avLst/>
          </a:prstGeom>
          <a:solidFill>
            <a:srgbClr val="E0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36118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554480"/>
            <a:ext cx="3611880" cy="3657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📡  Monitor Tab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Segoe U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0116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12 metric cards (Alt, Speed, Temp, PM2.5 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5915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Segoe U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35915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6 real-time charts ด้วย Chart.js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0662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Segoe U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70662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Flight phase bar (ASCENT → LANDED)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540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Segoe U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05409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อัปเดตทุก packet ที่รับเข้ามา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1554480"/>
            <a:ext cx="36118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78808" y="1554480"/>
            <a:ext cx="3611880" cy="36576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160020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🗺  Map Tab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20116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9D58"/>
                </a:solidFill>
                <a:latin typeface="Segoe U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0116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Leaflet map + OpenStreetMap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235915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9D58"/>
                </a:solidFill>
                <a:latin typeface="Segoe U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235915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Flight trail (เส้นทางการบินสด)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270662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9D58"/>
                </a:solidFill>
                <a:latin typeface="Segoe U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270662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ระยะห่างจาก Ground Station (km)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30540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9D58"/>
                </a:solidFill>
                <a:latin typeface="Segoe U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305409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ปุ่ม FOLLOW / FIT / RESET TRAIL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7576" y="1554480"/>
            <a:ext cx="36118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37576" y="1554480"/>
            <a:ext cx="3611880" cy="3657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160020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📊  Analysis Tab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201168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27B0"/>
                </a:solidFill>
                <a:latin typeface="Segoe UI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20116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ตาราง MAX / MIN / AVG / STDDEV ต่อ phase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235915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27B0"/>
                </a:solidFill>
                <a:latin typeface="Segoe UI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235915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3D Rocket orientation viewer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4736" y="270662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27B0"/>
                </a:solidFill>
                <a:latin typeface="Segoe UI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1624" y="270662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Altitude vs Speed scatter plot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4736" y="30540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27B0"/>
                </a:solidFill>
                <a:latin typeface="Segoe UI"/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1624" y="305409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74F"/>
                </a:solidFill>
                <a:latin typeface="Segoe UI"/>
              </a:rPr>
              <a:t>Replay จากไฟล์ Excel (ปรับความเร็วได้)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120640"/>
            <a:ext cx="115488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5120640"/>
            <a:ext cx="50292" cy="146304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193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B400"/>
                </a:solidFill>
                <a:latin typeface="Segoe UI"/>
              </a:rPr>
              <a:t>Excel Auto-Export  —  cansat_telemetry_YYYYMMDD_HHMMSS.xlsx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5046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08696"/>
                </a:solidFill>
                <a:latin typeface="Segoe UI"/>
              </a:rPr>
              <a:t>กด STOP บน dashboard → ไฟล์ถูกสร้างทันที ไม่ต้อง export เอง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806440"/>
            <a:ext cx="3547872" cy="66751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833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📡 Telemetry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080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EEFF"/>
                </a:solidFill>
                <a:latin typeface="Segoe UI"/>
              </a:rPr>
              <a:t>raw + derived 26 คอลัมน์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59" y="5806440"/>
            <a:ext cx="3547872" cy="667512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0" y="5833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📊 Statistics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6080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EEFF"/>
                </a:solidFill>
                <a:latin typeface="Segoe UI"/>
              </a:rPr>
              <a:t>MAX/MIN/AVG แยก phase
+ Bar charts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1000" y="5806440"/>
            <a:ext cx="3547872" cy="667512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60" y="5833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📈 Charts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6080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EEFF"/>
                </a:solidFill>
                <a:latin typeface="Segoe UI"/>
              </a:rPr>
              <a:t>Time-series 6 กราฟ
(alt, speed, temp …)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